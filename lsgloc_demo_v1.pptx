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87cbb23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87cbb23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87cbb239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87cbb23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87cbb239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87cbb239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87cbb239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87cbb239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87cbb239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87cbb239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87cbb239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87cbb239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87cbb239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87cbb239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87cbb239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87cbb239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87cbb239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87cbb239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87cbb239d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87cbb239d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87cbb239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87cbb239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87cbb239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87cbb239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7cbb239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87cbb239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Eye90N6Bv8yx6q4riQvvltytYQ0MsFlA/view" TargetMode="Externa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Lidar Semantic Global Localization (LSGLOC) Demo</a:t>
            </a:r>
            <a:endParaRPr/>
          </a:p>
        </p:txBody>
      </p:sp>
      <p:sp>
        <p:nvSpPr>
          <p:cNvPr id="55" name="Google Shape;55;p13"/>
          <p:cNvSpPr txBox="1"/>
          <p:nvPr>
            <p:ph idx="1" type="subTitle"/>
          </p:nvPr>
        </p:nvSpPr>
        <p:spPr>
          <a:xfrm>
            <a:off x="311700" y="2834125"/>
            <a:ext cx="8520600" cy="1058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Date: 22 April 2026, 1500hrs</a:t>
            </a:r>
            <a:endParaRPr/>
          </a:p>
          <a:p>
            <a:pPr indent="0" lvl="0" marL="0" rtl="0" algn="ctr">
              <a:spcBef>
                <a:spcPts val="0"/>
              </a:spcBef>
              <a:spcAft>
                <a:spcPts val="0"/>
              </a:spcAft>
              <a:buNone/>
            </a:pPr>
            <a:r>
              <a:rPr lang="en-GB"/>
              <a:t>By: Adiel Firqin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Problem Statement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Robots currently </a:t>
            </a:r>
            <a:r>
              <a:rPr b="1" lang="en-GB"/>
              <a:t>cannot autonomously determine their initial pose or continuously localise themselves</a:t>
            </a:r>
            <a:r>
              <a:rPr lang="en-GB"/>
              <a:t> within the 2D map coordinate frame without manual assistance or prior environment mapping.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Problems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GB"/>
              <a:t>Global Localization</a:t>
            </a:r>
            <a:r>
              <a:rPr lang="en-GB"/>
              <a:t>: </a:t>
            </a:r>
            <a:r>
              <a:rPr lang="en-GB"/>
              <a:t>No manual initial pose</a:t>
            </a:r>
            <a:r>
              <a:rPr lang="en-GB"/>
              <a:t> is given to the robot during deployment.</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GB"/>
              <a:t>No </a:t>
            </a:r>
            <a:r>
              <a:rPr b="1" lang="en-GB"/>
              <a:t>Prior Mapping</a:t>
            </a:r>
            <a:r>
              <a:rPr lang="en-GB"/>
              <a:t>:</a:t>
            </a:r>
            <a:r>
              <a:rPr lang="en-GB"/>
              <a:t> The robot must make use of </a:t>
            </a:r>
            <a:r>
              <a:rPr lang="en-GB"/>
              <a:t>a CAD</a:t>
            </a:r>
            <a:r>
              <a:rPr lang="en-GB"/>
              <a:t> floor plan</a:t>
            </a:r>
            <a:r>
              <a:rPr lang="en-GB"/>
              <a:t> </a:t>
            </a:r>
            <a:r>
              <a:rPr lang="en-GB"/>
              <a:t>that</a:t>
            </a:r>
            <a:r>
              <a:rPr lang="en-GB"/>
              <a:t> describes the geometry of the environment.</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GB"/>
              <a:t>Long-Term </a:t>
            </a:r>
            <a:r>
              <a:rPr b="1" lang="en-GB"/>
              <a:t>Localization</a:t>
            </a:r>
            <a:r>
              <a:rPr lang="en-GB"/>
              <a:t>: A</a:t>
            </a:r>
            <a:r>
              <a:rPr lang="en-GB"/>
              <a:t> </a:t>
            </a:r>
            <a:r>
              <a:rPr lang="en-GB"/>
              <a:t>robot</a:t>
            </a:r>
            <a:r>
              <a:rPr lang="en-GB"/>
              <a:t> must </a:t>
            </a:r>
            <a:r>
              <a:rPr lang="en-GB"/>
              <a:t>continuously</a:t>
            </a:r>
            <a:r>
              <a:rPr lang="en-GB"/>
              <a:t> localize</a:t>
            </a:r>
            <a:r>
              <a:rPr lang="en-GB"/>
              <a:t> within an environment to allow waypoint navigation.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Solution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Based on a paper by Nicky Zimmerman (1), it does the following:</a:t>
            </a:r>
            <a:endParaRPr/>
          </a:p>
          <a:p>
            <a:pPr indent="-342900" lvl="0" marL="457200" rtl="0" algn="l">
              <a:spcBef>
                <a:spcPts val="1200"/>
              </a:spcBef>
              <a:spcAft>
                <a:spcPts val="0"/>
              </a:spcAft>
              <a:buSzPts val="1800"/>
              <a:buChar char="●"/>
            </a:pPr>
            <a:r>
              <a:rPr lang="en-GB"/>
              <a:t>Use of </a:t>
            </a:r>
            <a:r>
              <a:rPr b="1" lang="en-GB"/>
              <a:t>CAD floor plans</a:t>
            </a:r>
            <a:r>
              <a:rPr lang="en-GB"/>
              <a:t> for lidar scan of the environment’s geometry</a:t>
            </a:r>
            <a:endParaRPr/>
          </a:p>
          <a:p>
            <a:pPr indent="-342900" lvl="0" marL="457200" rtl="0" algn="l">
              <a:spcBef>
                <a:spcPts val="0"/>
              </a:spcBef>
              <a:spcAft>
                <a:spcPts val="0"/>
              </a:spcAft>
              <a:buSzPts val="1800"/>
              <a:buChar char="●"/>
            </a:pPr>
            <a:r>
              <a:rPr lang="en-GB"/>
              <a:t>Uses Monte-Carlo Localization (</a:t>
            </a:r>
            <a:r>
              <a:rPr b="1" lang="en-GB"/>
              <a:t>MCL</a:t>
            </a:r>
            <a:r>
              <a:rPr lang="en-GB"/>
              <a:t>) Framework to stochastically determine robot’s pose on the map</a:t>
            </a:r>
            <a:endParaRPr/>
          </a:p>
          <a:p>
            <a:pPr indent="-342900" lvl="0" marL="457200" rtl="0" algn="l">
              <a:spcBef>
                <a:spcPts val="0"/>
              </a:spcBef>
              <a:spcAft>
                <a:spcPts val="0"/>
              </a:spcAft>
              <a:buSzPts val="1800"/>
              <a:buChar char="●"/>
            </a:pPr>
            <a:r>
              <a:rPr lang="en-GB"/>
              <a:t>Uses a motion model that incorporates the </a:t>
            </a:r>
            <a:r>
              <a:rPr b="1" lang="en-GB"/>
              <a:t>omnidirectional odometry</a:t>
            </a:r>
            <a:endParaRPr b="1"/>
          </a:p>
          <a:p>
            <a:pPr indent="-342900" lvl="0" marL="457200" rtl="0" algn="l">
              <a:spcBef>
                <a:spcPts val="0"/>
              </a:spcBef>
              <a:spcAft>
                <a:spcPts val="0"/>
              </a:spcAft>
              <a:buSzPts val="1800"/>
              <a:buChar char="●"/>
            </a:pPr>
            <a:r>
              <a:rPr lang="en-GB"/>
              <a:t>Combines </a:t>
            </a:r>
            <a:r>
              <a:rPr b="1" lang="en-GB"/>
              <a:t>YOLO</a:t>
            </a:r>
            <a:r>
              <a:rPr lang="en-GB"/>
              <a:t> semantic observation model with a lidar </a:t>
            </a:r>
            <a:r>
              <a:rPr b="1" lang="en-GB"/>
              <a:t>beam</a:t>
            </a:r>
            <a:r>
              <a:rPr lang="en-GB"/>
              <a:t> observation model to attenuate </a:t>
            </a:r>
            <a:r>
              <a:rPr lang="en-GB"/>
              <a:t>particles'</a:t>
            </a:r>
            <a:r>
              <a:rPr lang="en-GB"/>
              <a:t> weights </a:t>
            </a:r>
            <a:r>
              <a:rPr lang="en-GB"/>
              <a:t>across</a:t>
            </a:r>
            <a:r>
              <a:rPr lang="en-GB"/>
              <a:t> a map</a:t>
            </a:r>
            <a:endParaRPr/>
          </a:p>
          <a:p>
            <a:pPr indent="-342900" lvl="0" marL="457200" rtl="0" algn="l">
              <a:spcBef>
                <a:spcPts val="0"/>
              </a:spcBef>
              <a:spcAft>
                <a:spcPts val="0"/>
              </a:spcAft>
              <a:buSzPts val="1800"/>
              <a:buChar char="●"/>
            </a:pPr>
            <a:r>
              <a:rPr lang="en-GB"/>
              <a:t>Uses a “</a:t>
            </a:r>
            <a:r>
              <a:rPr b="1" lang="en-GB"/>
              <a:t>semantic </a:t>
            </a:r>
            <a:r>
              <a:rPr b="1" lang="en-GB"/>
              <a:t>map</a:t>
            </a:r>
            <a:r>
              <a:rPr lang="en-GB"/>
              <a:t>,"</a:t>
            </a:r>
            <a:r>
              <a:rPr lang="en-GB"/>
              <a:t> which indicates to the robot of where the semantic landmarks are on the map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Difference in Solution</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ZImmerman uses </a:t>
            </a:r>
            <a:r>
              <a:rPr b="1" lang="en-GB"/>
              <a:t>room segmentation</a:t>
            </a:r>
            <a:r>
              <a:rPr lang="en-GB"/>
              <a:t> to optimize particle distribution across the map during initialization. I have removed this step as the current operational environment is corridor, although future plans might include corridor segmentation</a:t>
            </a:r>
            <a:endParaRPr/>
          </a:p>
          <a:p>
            <a:pPr indent="-342900" lvl="0" marL="457200" rtl="0" algn="l">
              <a:spcBef>
                <a:spcPts val="0"/>
              </a:spcBef>
              <a:spcAft>
                <a:spcPts val="0"/>
              </a:spcAft>
              <a:buSzPts val="1800"/>
              <a:buChar char="●"/>
            </a:pPr>
            <a:r>
              <a:rPr lang="en-GB"/>
              <a:t>Zimmerman uses </a:t>
            </a:r>
            <a:r>
              <a:rPr lang="en-GB"/>
              <a:t>the </a:t>
            </a:r>
            <a:r>
              <a:rPr b="1" lang="en-GB"/>
              <a:t>YOLO</a:t>
            </a:r>
            <a:r>
              <a:rPr lang="en-GB"/>
              <a:t> model for </a:t>
            </a:r>
            <a:r>
              <a:rPr lang="en-GB"/>
              <a:t>the semantic</a:t>
            </a:r>
            <a:r>
              <a:rPr lang="en-GB"/>
              <a:t> observation </a:t>
            </a:r>
            <a:r>
              <a:rPr lang="en-GB"/>
              <a:t>model,</a:t>
            </a:r>
            <a:r>
              <a:rPr lang="en-GB"/>
              <a:t> whereas I use </a:t>
            </a:r>
            <a:r>
              <a:rPr lang="en-GB"/>
              <a:t>the </a:t>
            </a:r>
            <a:r>
              <a:rPr b="1" lang="en-GB"/>
              <a:t>VLM</a:t>
            </a:r>
            <a:r>
              <a:rPr lang="en-GB"/>
              <a:t> Llava3 model for </a:t>
            </a:r>
            <a:r>
              <a:rPr lang="en-GB"/>
              <a:t>the semantic</a:t>
            </a:r>
            <a:r>
              <a:rPr lang="en-GB"/>
              <a:t> observation model.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System Architecture</a:t>
            </a:r>
            <a:endParaRPr/>
          </a:p>
        </p:txBody>
      </p:sp>
      <p:pic>
        <p:nvPicPr>
          <p:cNvPr id="85" name="Google Shape;85;p18"/>
          <p:cNvPicPr preferRelativeResize="0"/>
          <p:nvPr/>
        </p:nvPicPr>
        <p:blipFill>
          <a:blip r:embed="rId3">
            <a:alphaModFix/>
          </a:blip>
          <a:stretch>
            <a:fillRect/>
          </a:stretch>
        </p:blipFill>
        <p:spPr>
          <a:xfrm>
            <a:off x="2001750" y="1017725"/>
            <a:ext cx="5140494" cy="3820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Global Localization </a:t>
            </a:r>
            <a:r>
              <a:rPr lang="en-GB"/>
              <a:t>Process</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arenR"/>
            </a:pPr>
            <a:r>
              <a:rPr lang="en-GB"/>
              <a:t>Particles are first </a:t>
            </a:r>
            <a:r>
              <a:rPr b="1" lang="en-GB"/>
              <a:t>uniformly distributed</a:t>
            </a:r>
            <a:r>
              <a:rPr lang="en-GB"/>
              <a:t> across the map with equal weights</a:t>
            </a:r>
            <a:r>
              <a:rPr lang="en-GB"/>
              <a:t>, i.e.,</a:t>
            </a:r>
            <a:r>
              <a:rPr lang="en-GB"/>
              <a:t> equal likelihood that the robot is everywhere on the map</a:t>
            </a:r>
            <a:endParaRPr/>
          </a:p>
          <a:p>
            <a:pPr indent="-342900" lvl="0" marL="457200" rtl="0" algn="l">
              <a:spcBef>
                <a:spcPts val="0"/>
              </a:spcBef>
              <a:spcAft>
                <a:spcPts val="0"/>
              </a:spcAft>
              <a:buSzPts val="1800"/>
              <a:buAutoNum type="arabicParenR"/>
            </a:pPr>
            <a:r>
              <a:rPr lang="en-GB"/>
              <a:t>During initialization, </a:t>
            </a:r>
            <a:r>
              <a:rPr lang="en-GB"/>
              <a:t>the</a:t>
            </a:r>
            <a:r>
              <a:rPr lang="en-GB"/>
              <a:t> robot first inputs lidar and semantic observations to get the </a:t>
            </a:r>
            <a:r>
              <a:rPr b="1" lang="en-GB"/>
              <a:t>best pose </a:t>
            </a:r>
            <a:r>
              <a:rPr b="1" lang="en-GB"/>
              <a:t>estimate</a:t>
            </a:r>
            <a:r>
              <a:rPr lang="en-GB"/>
              <a:t> of where it is at.</a:t>
            </a:r>
            <a:endParaRPr/>
          </a:p>
          <a:p>
            <a:pPr indent="-342900" lvl="0" marL="457200" rtl="0" algn="l">
              <a:spcBef>
                <a:spcPts val="0"/>
              </a:spcBef>
              <a:spcAft>
                <a:spcPts val="0"/>
              </a:spcAft>
              <a:buSzPts val="1800"/>
              <a:buAutoNum type="arabicParenR"/>
            </a:pPr>
            <a:r>
              <a:rPr lang="en-GB"/>
              <a:t>As the robot moves, it </a:t>
            </a:r>
            <a:r>
              <a:rPr lang="en-GB"/>
              <a:t>takes</a:t>
            </a:r>
            <a:r>
              <a:rPr lang="en-GB"/>
              <a:t> in </a:t>
            </a:r>
            <a:r>
              <a:rPr b="1" lang="en-GB"/>
              <a:t>more lidar and semantic observations</a:t>
            </a:r>
            <a:r>
              <a:rPr lang="en-GB"/>
              <a:t> to get a better estimate of where it is at. It also takes into account its </a:t>
            </a:r>
            <a:r>
              <a:rPr b="1" lang="en-GB"/>
              <a:t>odometry</a:t>
            </a:r>
            <a:r>
              <a:rPr lang="en-GB"/>
              <a:t> and </a:t>
            </a:r>
            <a:r>
              <a:rPr lang="en-GB"/>
              <a:t>samples</a:t>
            </a:r>
            <a:r>
              <a:rPr lang="en-GB"/>
              <a:t> a new pose for each time step.</a:t>
            </a:r>
            <a:endParaRPr/>
          </a:p>
          <a:p>
            <a:pPr indent="-342900" lvl="0" marL="457200" rtl="0" algn="l">
              <a:spcBef>
                <a:spcPts val="0"/>
              </a:spcBef>
              <a:spcAft>
                <a:spcPts val="0"/>
              </a:spcAft>
              <a:buSzPts val="1800"/>
              <a:buAutoNum type="arabicParenR"/>
            </a:pPr>
            <a:r>
              <a:rPr lang="en-GB"/>
              <a:t>The more </a:t>
            </a:r>
            <a:r>
              <a:rPr b="1" lang="en-GB"/>
              <a:t>unique</a:t>
            </a:r>
            <a:r>
              <a:rPr lang="en-GB"/>
              <a:t> the semantic detections are, the better the </a:t>
            </a:r>
            <a:r>
              <a:rPr lang="en-GB"/>
              <a:t>candidate</a:t>
            </a:r>
            <a:r>
              <a:rPr lang="en-GB"/>
              <a:t> pose is at corresponding to the ground truth location. </a:t>
            </a:r>
            <a:endParaRPr/>
          </a:p>
          <a:p>
            <a:pPr indent="-342900" lvl="0" marL="457200" rtl="0" algn="l">
              <a:spcBef>
                <a:spcPts val="0"/>
              </a:spcBef>
              <a:spcAft>
                <a:spcPts val="0"/>
              </a:spcAft>
              <a:buSzPts val="1800"/>
              <a:buAutoNum type="arabicParenR"/>
            </a:pPr>
            <a:r>
              <a:rPr lang="en-GB"/>
              <a:t>The particles are </a:t>
            </a:r>
            <a:r>
              <a:rPr b="1" lang="en-GB"/>
              <a:t>resampled</a:t>
            </a:r>
            <a:r>
              <a:rPr lang="en-GB"/>
              <a:t> everytime a semantic detection occurs or when the weight values of the particles are similar to one another</a:t>
            </a:r>
            <a:r>
              <a:rPr lang="en-GB"/>
              <a:t>, i.e.,</a:t>
            </a:r>
            <a:r>
              <a:rPr lang="en-GB"/>
              <a:t> uncertainty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Video Demo of LSGLOC</a:t>
            </a:r>
            <a:endParaRPr/>
          </a:p>
        </p:txBody>
      </p:sp>
      <p:pic>
        <p:nvPicPr>
          <p:cNvPr id="97" name="Google Shape;97;p20" title="lsgloc_simulation_demo.mp4">
            <a:hlinkClick r:id="rId3"/>
          </p:cNvPr>
          <p:cNvPicPr preferRelativeResize="0"/>
          <p:nvPr/>
        </p:nvPicPr>
        <p:blipFill>
          <a:blip r:embed="rId4">
            <a:alphaModFix/>
          </a:blip>
          <a:stretch>
            <a:fillRect/>
          </a:stretch>
        </p:blipFill>
        <p:spPr>
          <a:xfrm>
            <a:off x="152400" y="1155900"/>
            <a:ext cx="8839200" cy="37001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Limitations &amp; Challenges</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GB"/>
              <a:t>Map Format Requirement</a:t>
            </a:r>
            <a:r>
              <a:rPr lang="en-GB"/>
              <a:t>: The robot must be given a </a:t>
            </a:r>
            <a:r>
              <a:rPr lang="en-GB"/>
              <a:t>map in </a:t>
            </a:r>
            <a:r>
              <a:rPr lang="en-GB"/>
              <a:t>PGM</a:t>
            </a:r>
            <a:r>
              <a:rPr lang="en-GB"/>
              <a:t> (only black and white pixels) and </a:t>
            </a:r>
            <a:r>
              <a:rPr lang="en-GB"/>
              <a:t>YAML</a:t>
            </a:r>
            <a:r>
              <a:rPr lang="en-GB"/>
              <a:t> format in order to do </a:t>
            </a:r>
            <a:r>
              <a:rPr lang="en-GB"/>
              <a:t>Monte Carlo</a:t>
            </a:r>
            <a:r>
              <a:rPr lang="en-GB"/>
              <a:t> Localization (MCL).</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GB"/>
              <a:t>Map Scaling</a:t>
            </a:r>
            <a:r>
              <a:rPr lang="en-GB"/>
              <a:t>: The lidar distances to nearest obstacles must correctly match in RViz2 or other software description applications.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GB"/>
              <a:t>Semantic Map Requirement</a:t>
            </a:r>
            <a:r>
              <a:rPr lang="en-GB"/>
              <a:t>:</a:t>
            </a:r>
            <a:r>
              <a:rPr lang="en-GB"/>
              <a:t> </a:t>
            </a:r>
            <a:r>
              <a:rPr lang="en-GB"/>
              <a:t>The robot must be given a “semantic map” </a:t>
            </a:r>
            <a:r>
              <a:rPr lang="en-GB"/>
              <a:t>that lists</a:t>
            </a:r>
            <a:r>
              <a:rPr lang="en-GB"/>
              <a:t> down the </a:t>
            </a:r>
            <a:r>
              <a:rPr lang="en-GB"/>
              <a:t>locations of semantic landmarks</a:t>
            </a:r>
            <a:r>
              <a:rPr lang="en-GB"/>
              <a:t> on the map.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Limitations &amp; Challenges</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GB"/>
              <a:t>Global Localization Efficiency</a:t>
            </a:r>
            <a:r>
              <a:rPr lang="en-GB"/>
              <a:t>: Given an environment with a limited number of semantic landmarks the robot can recognize, the robot will take a longer time to converge to the right location on the map.</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GB"/>
              <a:t>VLM Hallucinations</a:t>
            </a:r>
            <a:r>
              <a:rPr lang="en-GB"/>
              <a:t>: If we use VLM as our primary object detection model, the VLM “might” inaccurately describe objects in the scene.</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GB"/>
              <a:t>VLM Latency</a:t>
            </a:r>
            <a:r>
              <a:rPr lang="en-GB"/>
              <a:t>: If we use VLM as our primary object detection model, the VLM will take time to process the input payload and produce semantic detections.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Limitations &amp; Challenges</a:t>
            </a:r>
            <a:endParaRPr/>
          </a:p>
          <a:p>
            <a:pPr indent="0" lvl="0" marL="0" rtl="0" algn="l">
              <a:spcBef>
                <a:spcPts val="0"/>
              </a:spcBef>
              <a:spcAft>
                <a:spcPts val="0"/>
              </a:spcAft>
              <a:buNone/>
            </a:pPr>
            <a:r>
              <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GB"/>
              <a:t>Dynamic </a:t>
            </a:r>
            <a:r>
              <a:rPr b="1" lang="en-GB"/>
              <a:t>Object Interaction</a:t>
            </a:r>
            <a:r>
              <a:rPr lang="en-GB"/>
              <a:t>: Currently, the semantic landmarks are assumed to be statically placed with respect to the semantic landmark file.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GB"/>
              <a:t>Object Instances &amp; Uniqueness</a:t>
            </a:r>
            <a:r>
              <a:rPr lang="en-GB"/>
              <a:t>: LSGLOC works well when there are many objects in the scene, and they are unique and different from one another.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Future Project Implementation</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arenR"/>
            </a:pPr>
            <a:r>
              <a:rPr b="1" lang="en-GB"/>
              <a:t>Global Localization → Pose Tracking</a:t>
            </a:r>
            <a:r>
              <a:rPr lang="en-GB"/>
              <a:t>: After the robot’s pose has been correctly identified, the robot </a:t>
            </a:r>
            <a:r>
              <a:rPr lang="en-GB"/>
              <a:t>should be</a:t>
            </a:r>
            <a:r>
              <a:rPr lang="en-GB"/>
              <a:t> able to maintain a unimodal probability distribution over a long period of time.</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arenR"/>
            </a:pPr>
            <a:r>
              <a:rPr b="1" lang="en-GB"/>
              <a:t>Localization Confidence Tracking</a:t>
            </a:r>
            <a:r>
              <a:rPr lang="en-GB"/>
              <a:t>: The robot should indicate and quantify to the user how well it localizes with respect to the map and sensor observations without manual intervention.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arenR"/>
            </a:pPr>
            <a:r>
              <a:rPr b="1" lang="en-GB"/>
              <a:t>Path-Planning Integration</a:t>
            </a:r>
            <a:r>
              <a:rPr lang="en-GB"/>
              <a:t>: The robot </a:t>
            </a:r>
            <a:r>
              <a:rPr lang="en-GB"/>
              <a:t>will be</a:t>
            </a:r>
            <a:r>
              <a:rPr lang="en-GB"/>
              <a:t> integrated with </a:t>
            </a:r>
            <a:r>
              <a:rPr lang="en-GB"/>
              <a:t>the Nav2</a:t>
            </a:r>
            <a:r>
              <a:rPr lang="en-GB"/>
              <a:t> stack to perform waypoint navigation.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Possible Future Challenges during Deployment</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arenR"/>
            </a:pPr>
            <a:r>
              <a:rPr b="1" lang="en-GB"/>
              <a:t>VLM Processing</a:t>
            </a:r>
            <a:r>
              <a:rPr lang="en-GB"/>
              <a:t>: If the VLM is used as the primary object detection model, it might use a lot of power and </a:t>
            </a:r>
            <a:r>
              <a:rPr lang="en-GB"/>
              <a:t>computation,</a:t>
            </a:r>
            <a:r>
              <a:rPr lang="en-GB"/>
              <a:t> thus </a:t>
            </a:r>
            <a:r>
              <a:rPr lang="en-GB"/>
              <a:t>affecting</a:t>
            </a:r>
            <a:r>
              <a:rPr lang="en-GB"/>
              <a:t> the rest of the system.</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arenR"/>
            </a:pPr>
            <a:r>
              <a:rPr b="1" lang="en-GB"/>
              <a:t>Sim2Real Gap</a:t>
            </a:r>
            <a:r>
              <a:rPr lang="en-GB"/>
              <a:t>: Since the simulated robot model is different from the ones we have in real life, the odometry will be different and “might” be challenging to the localization. Dynamics has been filtered out of the simulation which affects the localization process even more.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arenR"/>
            </a:pPr>
            <a:r>
              <a:rPr lang="en-GB"/>
              <a:t>Zimmerman, N., Guadagnino, T., Chen, X., Behley, J., &amp; Stachniss, C. (2022). Long-Term Localization using Semantic Cues in Floor Plan Maps. ArXiv.org. https://arxiv.org/abs/2210.01456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